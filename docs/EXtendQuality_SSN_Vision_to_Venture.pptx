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67a280a2a84256" /><Relationship Type="http://schemas.openxmlformats.org/officeDocument/2006/relationships/extended-properties" Target="/docProps/app.xml" Id="Rb60a840de8fc4ee8" /><Relationship Type="http://schemas.openxmlformats.org/officeDocument/2006/relationships/officeDocument" Target="/ppt/presentation.xml" Id="R7e89217ae69847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c2630649b04231"/>
  </p:sldMasterIdLst>
  <p:notesMasterIdLst>
    <p:notesMasterId xmlns:r="http://schemas.openxmlformats.org/officeDocument/2006/relationships" r:id="Rb039ca61caa94064"/>
  </p:notesMasterIdLst>
  <p:sldIdLst>
    <p:sldId xmlns:r="http://schemas.openxmlformats.org/officeDocument/2006/relationships" id="256" r:id="R7d921abbc7aa482f"/>
    <p:sldId xmlns:r="http://schemas.openxmlformats.org/officeDocument/2006/relationships" id="257" r:id="Ra234607834ee4f34"/>
    <p:sldId xmlns:r="http://schemas.openxmlformats.org/officeDocument/2006/relationships" id="258" r:id="Ra025c90433c844fd"/>
    <p:sldId xmlns:r="http://schemas.openxmlformats.org/officeDocument/2006/relationships" id="259" r:id="Rac8306b0f7424714"/>
    <p:sldId xmlns:r="http://schemas.openxmlformats.org/officeDocument/2006/relationships" id="260" r:id="Rf68410803ee34c16"/>
    <p:sldId xmlns:r="http://schemas.openxmlformats.org/officeDocument/2006/relationships" id="261" r:id="R854be1d669b7460d"/>
    <p:sldId xmlns:r="http://schemas.openxmlformats.org/officeDocument/2006/relationships" id="262" r:id="R633276f4e0544c4a"/>
    <p:sldId xmlns:r="http://schemas.openxmlformats.org/officeDocument/2006/relationships" id="263" r:id="R0a3d5e74e5b84022"/>
    <p:sldId xmlns:r="http://schemas.openxmlformats.org/officeDocument/2006/relationships" id="264" r:id="R7b6e0e9c7cd541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4a6924eb714d28" /><Relationship Type="http://schemas.openxmlformats.org/officeDocument/2006/relationships/slideMaster" Target="/ppt/slideMasters/slideMaster1.xml" Id="R54c2630649b04231" /><Relationship Type="http://schemas.openxmlformats.org/officeDocument/2006/relationships/notesMaster" Target="/ppt/notesMasters/notesMaster1.xml" Id="Rb039ca61caa94064" /><Relationship Type="http://schemas.openxmlformats.org/officeDocument/2006/relationships/presProps" Target="/ppt/presProps.xml" Id="R0152c43121ec4e33" /><Relationship Type="http://schemas.openxmlformats.org/officeDocument/2006/relationships/tableStyles" Target="/ppt/tableStyles.xml" Id="Rc22068c02f21489c" /><Relationship Type="http://schemas.openxmlformats.org/officeDocument/2006/relationships/slide" Target="/ppt/slides/slide1.xml" Id="R7d921abbc7aa482f" /><Relationship Type="http://schemas.openxmlformats.org/officeDocument/2006/relationships/slide" Target="/ppt/slides/slide2.xml" Id="Ra234607834ee4f34" /><Relationship Type="http://schemas.openxmlformats.org/officeDocument/2006/relationships/slide" Target="/ppt/slides/slide3.xml" Id="Ra025c90433c844fd" /><Relationship Type="http://schemas.openxmlformats.org/officeDocument/2006/relationships/slide" Target="/ppt/slides/slide4.xml" Id="Rac8306b0f7424714" /><Relationship Type="http://schemas.openxmlformats.org/officeDocument/2006/relationships/slide" Target="/ppt/slides/slide5.xml" Id="Rf68410803ee34c16" /><Relationship Type="http://schemas.openxmlformats.org/officeDocument/2006/relationships/slide" Target="/ppt/slides/slide6.xml" Id="R854be1d669b7460d" /><Relationship Type="http://schemas.openxmlformats.org/officeDocument/2006/relationships/slide" Target="/ppt/slides/slide7.xml" Id="R633276f4e0544c4a" /><Relationship Type="http://schemas.openxmlformats.org/officeDocument/2006/relationships/slide" Target="/ppt/slides/slide8.xml" Id="R0a3d5e74e5b84022" /><Relationship Type="http://schemas.openxmlformats.org/officeDocument/2006/relationships/slide" Target="/ppt/slides/slide9.xml" Id="R7b6e0e9c7cd541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6092cd470f41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7e4cf4beb94949" /><Relationship Type="http://schemas.openxmlformats.org/officeDocument/2006/relationships/notesMaster" Target="/ppt/notesMasters/notesMaster1.xml" Id="Rb043386383a340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3ff1b109cf4eca" /><Relationship Type="http://schemas.openxmlformats.org/officeDocument/2006/relationships/notesMaster" Target="/ppt/notesMasters/notesMaster1.xml" Id="R5d38ebcf4b8145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e517cffdaf4f78" /><Relationship Type="http://schemas.openxmlformats.org/officeDocument/2006/relationships/notesMaster" Target="/ppt/notesMasters/notesMaster1.xml" Id="R6926ae3c6b5842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34ae2bdc2a407e" /><Relationship Type="http://schemas.openxmlformats.org/officeDocument/2006/relationships/notesMaster" Target="/ppt/notesMasters/notesMaster1.xml" Id="R5caff4172ccb4d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71916d14cd4ff3" /><Relationship Type="http://schemas.openxmlformats.org/officeDocument/2006/relationships/notesMaster" Target="/ppt/notesMasters/notesMaster1.xml" Id="R594e12924b4c4c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5dd372b54c431d" /><Relationship Type="http://schemas.openxmlformats.org/officeDocument/2006/relationships/notesMaster" Target="/ppt/notesMasters/notesMaster1.xml" Id="Rf9b53147f59948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25d7d8c1f64ac6" /><Relationship Type="http://schemas.openxmlformats.org/officeDocument/2006/relationships/notesMaster" Target="/ppt/notesMasters/notesMaster1.xml" Id="R8763d4c9767d47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90d973631b4739" /><Relationship Type="http://schemas.openxmlformats.org/officeDocument/2006/relationships/notesMaster" Target="/ppt/notesMasters/notesMaster1.xml" Id="Rc7790035f5a74f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5c69389f8c486d" /><Relationship Type="http://schemas.openxmlformats.org/officeDocument/2006/relationships/notesMaster" Target="/ppt/notesMasters/notesMaster1.xml" Id="R088a5a53654040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outcome: affordable assisted inspection for MSMEs, not a claim of production autonomy.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photograph: storage/raw/7f8e3e9a4924486a8ef38419bd878cd3.jpg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without inventing market size or claiming all factories behave identically.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mentor insights and EXtendQuality SSN pitch runbook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image quality, YOLO confidence and decision threshold separate. The VLM never overturns the decision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backend/app/services/decision/engine.py</a:t>
            </a:r>
          </a:p>
          <a:p xmlns:a="http://schemas.openxmlformats.org/drawingml/2006/main">
            <a:r>
              <a:t>- Repository: backend/app/services/vlm/adapter.py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directly into the live demo after this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local dashboard screenshot captured 2026-08-22 from http://localhost:3000/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explicitly that the bearing rendering is evidence-linked visualization, not reconstruction or calibrated metrology.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local visualizer screenshot captured 2026-08-22 from http://localhost:3000/inspection-visualizer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asked for accuracy: repeated-view CV was 100%; excluded-view stress was 93.94% (31/33). Both use the same few physical bearings, so neither is unseen-bearing accuracy.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docs/model_evaluation.md</a:t>
            </a:r>
          </a:p>
          <a:p xmlns:a="http://schemas.openxmlformats.org/drawingml/2006/main">
            <a:r>
              <a:t>- docs/demo_rehearsal_2026-08-22.md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Our cost case is architectural today. Do not invent hardware savings or ROI without a pilot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docs/ssn_pitch_runbook.md</a:t>
            </a:r>
          </a:p>
          <a:p xmlns:a="http://schemas.openxmlformats.org/drawingml/2006/main">
            <a:r>
              <a:t>- Repository implementation: selective VLM routing and local storage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the answer to 'what happens after the hackathon?'. Emphasize independent physical parts and agreed acceptance criteria.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docs/model_evaluation.md</a:t>
            </a:r>
          </a:p>
          <a:p xmlns:a="http://schemas.openxmlformats.org/drawingml/2006/main">
            <a:r>
              <a:t>- docs/ssn_pitch_runbook.md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concrete pilot ask. Do not end with a generic thank-you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docs/ssn_pitch_runbook.md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73365c5c1f47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bc28a9653042dc" /><Relationship Type="http://schemas.openxmlformats.org/officeDocument/2006/relationships/slideLayout" Target="/ppt/slideLayouts/slideLayout1.xml" Id="Rddcb93544eb44e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cb93544eb44e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dcf4bb3164679" /><Relationship Type="http://schemas.openxmlformats.org/officeDocument/2006/relationships/image" Target="/ppt/media/image.jpeg" Id="Reb70ec8d97c84b61" /><Relationship Type="http://schemas.openxmlformats.org/officeDocument/2006/relationships/notesSlide" Target="/ppt/notesSlides/notesSlide1.xml" Id="R1e12345569de4c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ca3c99ce34cba" /><Relationship Type="http://schemas.openxmlformats.org/officeDocument/2006/relationships/notesSlide" Target="/ppt/notesSlides/notesSlide2.xml" Id="Raef91f75e1ce45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354c47a324f38" /><Relationship Type="http://schemas.openxmlformats.org/officeDocument/2006/relationships/notesSlide" Target="/ppt/notesSlides/notesSlide3.xml" Id="R346cba84df2b40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cd252652c4210" /><Relationship Type="http://schemas.openxmlformats.org/officeDocument/2006/relationships/image" Target="/ppt/media/image2.jpeg" Id="R44d9ece4f68248ab" /><Relationship Type="http://schemas.openxmlformats.org/officeDocument/2006/relationships/notesSlide" Target="/ppt/notesSlides/notesSlide4.xml" Id="R07ebabd6c84745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78a1de5f24f02" /><Relationship Type="http://schemas.openxmlformats.org/officeDocument/2006/relationships/image" Target="/ppt/media/image3.jpeg" Id="R0f8dd33f1c0a4835" /><Relationship Type="http://schemas.openxmlformats.org/officeDocument/2006/relationships/notesSlide" Target="/ppt/notesSlides/notesSlide5.xml" Id="Rffdea2f7c13549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e99ccddd04ca7" /><Relationship Type="http://schemas.openxmlformats.org/officeDocument/2006/relationships/notesSlide" Target="/ppt/notesSlides/notesSlide6.xml" Id="R46a8bd2f73a640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3547daba4416e" /><Relationship Type="http://schemas.openxmlformats.org/officeDocument/2006/relationships/notesSlide" Target="/ppt/notesSlides/notesSlide7.xml" Id="Rd8215de96b1345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f9c3dbe734dda" /><Relationship Type="http://schemas.openxmlformats.org/officeDocument/2006/relationships/notesSlide" Target="/ppt/notesSlides/notesSlide8.xml" Id="R7b94b8ecd38f47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b046dd0a649b2" /><Relationship Type="http://schemas.openxmlformats.org/officeDocument/2006/relationships/notesSlide" Target="/ppt/notesSlides/notesSlide9.xml" Id="R97088d7f87a144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0ec8d97c84b61"/>
          <a:srcRect xmlns:a="http://schemas.openxmlformats.org/drawingml/2006/main" l="21979" t="0" r="219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roundRect">
            <a:avLst>
              <a:gd name="adj" fmla="val 223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BBF2A-27B5-4109-88EF-7385E470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08516-D21C-496B-A120-1F5EFB88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A712"/>
                </a:solidFill>
              </a:defRPr>
            </a:pPr>
            <a:r>
              <a:rPr sz="1050" b="1">
                <a:solidFill>
                  <a:srgbClr val="F3A712"/>
                </a:solidFill>
              </a:rPr>
              <a:t>SSN · VISION TO VENTURE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C173BC-5AD7-4120-AA41-CAB208B9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E8EFF1"/>
                </a:solidFill>
              </a:defRPr>
            </a:pPr>
            <a:r>
              <a:rPr sz="4200" b="1">
                <a:solidFill>
                  <a:srgbClr val="E8EFF1"/>
                </a:solidFill>
              </a:rPr>
              <a:t>EXtendQuality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0D959-9624-4EE4-88E6-862EC35B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71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8EFF1"/>
                </a:solidFill>
              </a:defRPr>
            </a:pPr>
            <a:r>
              <a:rPr sz="2550" b="1">
                <a:solidFill>
                  <a:srgbClr val="E8EFF1"/>
                </a:solidFill>
              </a:rPr>
              <a:t>Quality intelligence that knows</a:t>
            </a:r>
          </a:p>
          <a:p xmlns:a="http://schemas.openxmlformats.org/drawingml/2006/main">
            <a:pPr algn="l">
              <a:defRPr sz="2550" b="1">
                <a:solidFill>
                  <a:srgbClr val="E8EFF1"/>
                </a:solidFill>
              </a:defRPr>
            </a:pPr>
            <a:r>
              <a:rPr sz="2550" b="1">
                <a:solidFill>
                  <a:srgbClr val="E8EFF1"/>
                </a:solidFill>
              </a:rPr>
              <a:t>when to ask for help.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909CD-40CC-42FE-9802-B942C0CD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3A71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7B231-E424-453A-835C-FD3313DE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5143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1A6AD"/>
                </a:solidFill>
              </a:defRPr>
            </a:pPr>
            <a:r>
              <a:rPr sz="1650" b="0">
                <a:solidFill>
                  <a:srgbClr val="91A6AD"/>
                </a:solidFill>
              </a:rPr>
              <a:t>Local YOLO for routine inspection.</a:t>
            </a:r>
          </a:p>
          <a:p xmlns:a="http://schemas.openxmlformats.org/drawingml/2006/main">
            <a:pPr algn="l">
              <a:defRPr sz="1650" b="0">
                <a:solidFill>
                  <a:srgbClr val="91A6AD"/>
                </a:solidFill>
              </a:defRPr>
            </a:pPr>
            <a:r>
              <a:rPr sz="1650" b="0">
                <a:solidFill>
                  <a:srgbClr val="91A6AD"/>
                </a:solidFill>
              </a:rPr>
              <a:t>Selective VLM for uncertainty.</a:t>
            </a:r>
          </a:p>
          <a:p xmlns:a="http://schemas.openxmlformats.org/drawingml/2006/main">
            <a:pPr algn="l">
              <a:defRPr sz="1650" b="0">
                <a:solidFill>
                  <a:srgbClr val="91A6AD"/>
                </a:solidFill>
              </a:defRPr>
            </a:pPr>
            <a:r>
              <a:rPr sz="1650" b="0">
                <a:solidFill>
                  <a:srgbClr val="91A6AD"/>
                </a:solidFill>
              </a:rPr>
              <a:t>Human authority for every final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F0F38-5251-4ACE-81A6-83C7BBB5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61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EFF1"/>
                </a:solidFill>
              </a:defRPr>
            </a:pPr>
            <a:r>
              <a:rPr sz="900" b="1">
                <a:solidFill>
                  <a:srgbClr val="E8EFF1"/>
                </a:solidFill>
              </a:rPr>
              <a:t>TEAM ZeAI_MIH_407  ·  INDUSTRY 4.0 &amp; MANUFACTURING</a:t>
            </a:r>
          </a:p>
        </p:txBody>
      </p:sp>
    </p:spTree>
    <p:extLst>
      <p:ext uri="{BB962C8B-B14F-4D97-AF65-F5344CB8AC3E}">
        <p14:creationId xmlns:p14="http://schemas.microsoft.com/office/powerpoint/2010/main" val="14111894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1EFEF4-6EF3-45C1-99B9-0C1A0FBE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7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83BFC-6F04-427F-B5D3-E8CADF52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EFF1"/>
                </a:solidFill>
              </a:defRPr>
            </a:pPr>
            <a:r>
              <a:rPr sz="1350" b="1">
                <a:solidFill>
                  <a:srgbClr val="E8EFF1"/>
                </a:solidFill>
              </a:rPr>
              <a:t>EXtendQuality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DE57E-635A-4E17-BB0C-34B050DD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3A712"/>
                </a:solidFill>
              </a:defRPr>
            </a:pPr>
            <a:r>
              <a:rPr sz="750" b="1">
                <a:solidFill>
                  <a:srgbClr val="F3A712"/>
                </a:solidFill>
              </a:rPr>
              <a:t>THE MANUFACTURING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07BF9-5389-47D2-94CF-39A0B59E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6AD"/>
                </a:solidFill>
              </a:defRPr>
            </a:pPr>
            <a:r>
              <a:rPr sz="900" b="1">
                <a:solidFill>
                  <a:srgbClr val="91A6A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F1E1D-4253-497B-95EE-6EED4909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8EFF1"/>
                </a:solidFill>
              </a:defRPr>
            </a:pPr>
            <a:r>
              <a:rPr sz="2850" b="1">
                <a:solidFill>
                  <a:srgbClr val="E8EFF1"/>
                </a:solidFill>
              </a:rPr>
              <a:t>Precision inspection is hard to democratize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64A15-7B2D-48C9-A2B6-736B6F9E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6AD"/>
                </a:solidFill>
              </a:defRPr>
            </a:pPr>
            <a:r>
              <a:rPr sz="1350" b="0">
                <a:solidFill>
                  <a:srgbClr val="91A6AD"/>
                </a:solidFill>
              </a:rPr>
              <a:t>MSMEs face a three-way constraint: consistency, data and deployment cost.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62095-633B-47B8-A0BB-EDE9ECA5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A712"/>
                </a:solidFill>
              </a:defRPr>
            </a:pPr>
            <a:r>
              <a:rPr sz="1500" b="1">
                <a:solidFill>
                  <a:srgbClr val="F3A712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536A3-D4A2-48A8-A7C7-7C071F66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41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494BC-5ADA-434E-A6E7-F38CC04E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EFF1"/>
                </a:solidFill>
              </a:defRPr>
            </a:pPr>
            <a:r>
              <a:rPr sz="1800" b="1">
                <a:solidFill>
                  <a:srgbClr val="E8EFF1"/>
                </a:solidFill>
              </a:rPr>
              <a:t>Human inspection varies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EC626-9379-4753-AAEA-6A681D02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57625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6AD"/>
                </a:solidFill>
              </a:defRPr>
            </a:pPr>
            <a:r>
              <a:rPr sz="1350" b="0">
                <a:solidFill>
                  <a:srgbClr val="91A6AD"/>
                </a:solidFill>
              </a:rPr>
              <a:t>Fatigue, lighting and judgement affect repeatability across shifts.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5A581-C609-4385-A761-DCDC2076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812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A712"/>
                </a:solidFill>
              </a:defRPr>
            </a:pPr>
            <a:r>
              <a:rPr sz="1500" b="1">
                <a:solidFill>
                  <a:srgbClr val="F3A712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3E804-ECC0-4104-B75F-854A9EDA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914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414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D4739A-94D7-404F-A5F9-AFAFC284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43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EFF1"/>
                </a:solidFill>
              </a:defRPr>
            </a:pPr>
            <a:r>
              <a:rPr sz="1800" b="1">
                <a:solidFill>
                  <a:srgbClr val="E8EFF1"/>
                </a:solidFill>
              </a:rPr>
              <a:t>Industrial data is scarce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FECF25-87A4-4C63-AC0A-CE94992E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57625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6AD"/>
                </a:solidFill>
              </a:defRPr>
            </a:pPr>
            <a:r>
              <a:rPr sz="1350" b="0">
                <a:solidFill>
                  <a:srgbClr val="91A6AD"/>
                </a:solidFill>
              </a:rPr>
              <a:t>A few repeated views cannot represent parts, batches, severities and capture conditions.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420F3-C17D-46A1-B370-1D6BE058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812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A712"/>
                </a:solidFill>
              </a:defRPr>
            </a:pPr>
            <a:r>
              <a:rPr sz="1500" b="1">
                <a:solidFill>
                  <a:srgbClr val="F3A712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6B5856-AE28-4EE7-8972-428C7E1E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14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414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940E9-CE0A-4B09-9E84-97CF1EE7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43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8EFF1"/>
                </a:solidFill>
              </a:defRPr>
            </a:pPr>
            <a:r>
              <a:rPr sz="1800" b="1">
                <a:solidFill>
                  <a:srgbClr val="E8EFF1"/>
                </a:solidFill>
              </a:rPr>
              <a:t>Cloud-first AI adds friction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AF70FF-9AA5-4A65-B0D3-F1D98B5D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57625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6AD"/>
                </a:solidFill>
              </a:defRPr>
            </a:pPr>
            <a:r>
              <a:rPr sz="1350" b="0">
                <a:solidFill>
                  <a:srgbClr val="91A6AD"/>
                </a:solidFill>
              </a:rPr>
              <a:t>Sending every frame to a reasoning model increases latency, cost and privacy exposure.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FF8F3E-78E2-470C-9CB8-55CD3724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8EFF1"/>
                </a:solidFill>
              </a:defRPr>
            </a:pPr>
            <a:r>
              <a:rPr sz="2250" b="1">
                <a:solidFill>
                  <a:srgbClr val="E8EFF1"/>
                </a:solidFill>
              </a:rPr>
              <a:t>The opportunity is not another black box.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3E306A-3DF2-4C83-B887-C102D0C0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D49A"/>
                </a:solidFill>
              </a:defRPr>
            </a:pPr>
            <a:r>
              <a:rPr sz="1650" b="1">
                <a:solidFill>
                  <a:srgbClr val="55D49A"/>
                </a:solidFill>
              </a:rPr>
              <a:t>It is a governed inspection workflow that exposes uncertainty.</a:t>
            </a:r>
          </a:p>
        </p:txBody>
      </p:sp>
    </p:spTree>
    <p:extLst>
      <p:ext uri="{BB962C8B-B14F-4D97-AF65-F5344CB8AC3E}">
        <p14:creationId xmlns:p14="http://schemas.microsoft.com/office/powerpoint/2010/main" val="6978196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BD0F90-33A0-41D7-8E74-72095D5D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7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9BF28-A6AB-4BAA-A2E9-DE770F9B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EFF1"/>
                </a:solidFill>
              </a:defRPr>
            </a:pPr>
            <a:r>
              <a:rPr sz="1350" b="1">
                <a:solidFill>
                  <a:srgbClr val="E8EFF1"/>
                </a:solidFill>
              </a:rPr>
              <a:t>EXtendQuality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2EB50-8038-4057-93E4-CBED79B7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3A712"/>
                </a:solidFill>
              </a:defRPr>
            </a:pPr>
            <a:r>
              <a:rPr sz="750" b="1">
                <a:solidFill>
                  <a:srgbClr val="F3A712"/>
                </a:solidFill>
              </a:rPr>
              <a:t>OUR 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5ACD5-1320-4CFF-A2D3-6FE80561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6AD"/>
                </a:solidFill>
              </a:defRPr>
            </a:pPr>
            <a:r>
              <a:rPr sz="900" b="1">
                <a:solidFill>
                  <a:srgbClr val="91A6A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08B3F-9F67-43AF-A753-1792F783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8EFF1"/>
                </a:solidFill>
              </a:defRPr>
            </a:pPr>
            <a:r>
              <a:rPr sz="2850" b="1">
                <a:solidFill>
                  <a:srgbClr val="E8EFF1"/>
                </a:solidFill>
              </a:rPr>
              <a:t>Keep the common path local; escalate only ambiguity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B54F8-F921-4E22-AC11-AFB6EDA9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6AD"/>
                </a:solidFill>
              </a:defRPr>
            </a:pPr>
            <a:r>
              <a:rPr sz="1350" b="0">
                <a:solidFill>
                  <a:srgbClr val="91A6AD"/>
                </a:solidFill>
              </a:rPr>
              <a:t>Five explicit stages replace one mysterious confidence score.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B5574-7D3E-4C8B-9AE6-7E152F61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09925"/>
            <a:ext cx="4381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4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DA3A1-6BB3-4F2B-9D00-776756A9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9925"/>
            <a:ext cx="4381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4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2F5B3-4870-40BE-B354-0736A656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9925"/>
            <a:ext cx="4381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4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E05FC-E377-4338-B3E8-3FDAEF7E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09925"/>
            <a:ext cx="4381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4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ge-0">
            <a:extLst xmlns:a="http://schemas.openxmlformats.org/drawingml/2006/main">
              <a:ext uri="{FF2B5EF4-FFF2-40B4-BE49-F238E27FC236}">
                <a16:creationId xmlns:a16="http://schemas.microsoft.com/office/drawing/2014/main" id="{C8F998C9-8167-4F32-A814-0D08C6B8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16954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2027"/>
          </a:solidFill>
          <a:ln xmlns:a="http://schemas.openxmlformats.org/drawingml/2006/main" w="9525">
            <a:solidFill>
              <a:srgbClr val="2B41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388A9E-E94B-46A3-B04B-DA2FCB83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D49A"/>
                </a:solidFill>
              </a:defRPr>
            </a:pPr>
            <a:r>
              <a:rPr sz="900" b="1">
                <a:solidFill>
                  <a:srgbClr val="55D49A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EA9C4-7610-4550-AFBA-74D725F5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EFF1"/>
                </a:solidFill>
              </a:defRPr>
            </a:pPr>
            <a:r>
              <a:rPr sz="1575" b="1">
                <a:solidFill>
                  <a:srgbClr val="E8EFF1"/>
                </a:solidFill>
              </a:rPr>
              <a:t>CAPTURE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0ED3D1-83FF-4934-8DFD-8E80CB25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6AD"/>
                </a:solidFill>
              </a:defRPr>
            </a:pPr>
            <a:r>
              <a:rPr sz="1125" b="0">
                <a:solidFill>
                  <a:srgbClr val="91A6AD"/>
                </a:solidFill>
              </a:rPr>
              <a:t>Frame</a:t>
            </a:r>
          </a:p>
        </p:txBody>
      </p:sp>
      <p:sp>
        <p:nvSpPr>
          <p:cNvPr id="15" name="stage-1">
            <a:extLst xmlns:a="http://schemas.openxmlformats.org/drawingml/2006/main">
              <a:ext uri="{FF2B5EF4-FFF2-40B4-BE49-F238E27FC236}">
                <a16:creationId xmlns:a16="http://schemas.microsoft.com/office/drawing/2014/main" id="{A1B57233-0F19-460B-81E8-CFB8E4CA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24150"/>
            <a:ext cx="16954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2027"/>
          </a:solidFill>
          <a:ln xmlns:a="http://schemas.openxmlformats.org/drawingml/2006/main" w="9525">
            <a:solidFill>
              <a:srgbClr val="2B414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B7C1A0-4BA8-4CA5-B438-7BF0474B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D49A"/>
                </a:solidFill>
              </a:defRPr>
            </a:pPr>
            <a:r>
              <a:rPr sz="900" b="1">
                <a:solidFill>
                  <a:srgbClr val="55D49A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E0A174-B19A-4DF8-9B0D-E8B1EB73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194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EFF1"/>
                </a:solidFill>
              </a:defRPr>
            </a:pPr>
            <a:r>
              <a:rPr sz="1575" b="1">
                <a:solidFill>
                  <a:srgbClr val="E8EFF1"/>
                </a:solidFill>
              </a:rPr>
              <a:t>OPENCV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259521-A922-4EF1-979C-2D8D1D1D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718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6AD"/>
                </a:solidFill>
              </a:defRPr>
            </a:pPr>
            <a:r>
              <a:rPr sz="1125" b="0">
                <a:solidFill>
                  <a:srgbClr val="91A6AD"/>
                </a:solidFill>
              </a:rPr>
              <a:t>Quality gate</a:t>
            </a:r>
          </a:p>
        </p:txBody>
      </p:sp>
      <p:sp>
        <p:nvSpPr>
          <p:cNvPr id="19" name="stage-2">
            <a:extLst xmlns:a="http://schemas.openxmlformats.org/drawingml/2006/main">
              <a:ext uri="{FF2B5EF4-FFF2-40B4-BE49-F238E27FC236}">
                <a16:creationId xmlns:a16="http://schemas.microsoft.com/office/drawing/2014/main" id="{6520ABAA-BDC6-4F36-BC23-D87A9496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16954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2027"/>
          </a:solidFill>
          <a:ln xmlns:a="http://schemas.openxmlformats.org/drawingml/2006/main" w="9525">
            <a:solidFill>
              <a:srgbClr val="2B414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DAE32D-AFC4-42AA-9F8D-2F3EBBBE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765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D49A"/>
                </a:solidFill>
              </a:defRPr>
            </a:pPr>
            <a:r>
              <a:rPr sz="900" b="1">
                <a:solidFill>
                  <a:srgbClr val="55D49A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EB88AD-2DD2-4904-8D64-06141036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194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EFF1"/>
                </a:solidFill>
              </a:defRPr>
            </a:pPr>
            <a:r>
              <a:rPr sz="1575" b="1">
                <a:solidFill>
                  <a:srgbClr val="E8EFF1"/>
                </a:solidFill>
              </a:rPr>
              <a:t>YOLO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F90DE9-D2CF-4859-B6B6-2357988C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718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6AD"/>
                </a:solidFill>
              </a:defRPr>
            </a:pPr>
            <a:r>
              <a:rPr sz="1125" b="0">
                <a:solidFill>
                  <a:srgbClr val="91A6AD"/>
                </a:solidFill>
              </a:rPr>
              <a:t>Known condition</a:t>
            </a:r>
          </a:p>
        </p:txBody>
      </p:sp>
      <p:sp>
        <p:nvSpPr>
          <p:cNvPr id="23" name="stage-3">
            <a:extLst xmlns:a="http://schemas.openxmlformats.org/drawingml/2006/main">
              <a:ext uri="{FF2B5EF4-FFF2-40B4-BE49-F238E27FC236}">
                <a16:creationId xmlns:a16="http://schemas.microsoft.com/office/drawing/2014/main" id="{AA0F6D44-7741-4A88-A503-18F0D219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16954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62A32"/>
          </a:solidFill>
          <a:ln xmlns:a="http://schemas.openxmlformats.org/drawingml/2006/main" w="9525">
            <a:solidFill>
              <a:srgbClr val="2B414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03CABF-68B2-4CC5-B608-F4225557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765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3A712"/>
                </a:solidFill>
              </a:defRPr>
            </a:pPr>
            <a:r>
              <a:rPr sz="900" b="1">
                <a:solidFill>
                  <a:srgbClr val="F3A712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3D5818-8797-4ADD-8022-E7DA355E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194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EFF1"/>
                </a:solidFill>
              </a:defRPr>
            </a:pPr>
            <a:r>
              <a:rPr sz="1575" b="1">
                <a:solidFill>
                  <a:srgbClr val="E8EFF1"/>
                </a:solidFill>
              </a:rPr>
              <a:t>DECISION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7BCC34-6CEB-4517-9A34-9D11E4CB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718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6AD"/>
                </a:solidFill>
              </a:defRPr>
            </a:pPr>
            <a:r>
              <a:rPr sz="1125" b="0">
                <a:solidFill>
                  <a:srgbClr val="91A6AD"/>
                </a:solidFill>
              </a:rPr>
              <a:t>Threshold route</a:t>
            </a:r>
          </a:p>
        </p:txBody>
      </p:sp>
      <p:sp>
        <p:nvSpPr>
          <p:cNvPr id="27" name="stage-4">
            <a:extLst xmlns:a="http://schemas.openxmlformats.org/drawingml/2006/main">
              <a:ext uri="{FF2B5EF4-FFF2-40B4-BE49-F238E27FC236}">
                <a16:creationId xmlns:a16="http://schemas.microsoft.com/office/drawing/2014/main" id="{E66C0981-7587-4A61-A836-8EF434A7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24150"/>
            <a:ext cx="16954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2027"/>
          </a:solidFill>
          <a:ln xmlns:a="http://schemas.openxmlformats.org/drawingml/2006/main" w="9525">
            <a:solidFill>
              <a:srgbClr val="2B414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A734EC-853F-4CC9-A0A0-F2D979DC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765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D49A"/>
                </a:solidFill>
              </a:defRPr>
            </a:pPr>
            <a:r>
              <a:rPr sz="900" b="1">
                <a:solidFill>
                  <a:srgbClr val="55D49A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9DF2A8-06D7-4A40-9019-E4D71799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194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EFF1"/>
                </a:solidFill>
              </a:defRPr>
            </a:pPr>
            <a:r>
              <a:rPr sz="1575" b="1">
                <a:solidFill>
                  <a:srgbClr val="E8EFF1"/>
                </a:solidFill>
              </a:rPr>
              <a:t>HUMAN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A8FB8F-E59C-40C0-A1C8-B44EF8B2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71875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1A6AD"/>
                </a:solidFill>
              </a:defRPr>
            </a:pPr>
            <a:r>
              <a:rPr sz="1125" b="0">
                <a:solidFill>
                  <a:srgbClr val="91A6AD"/>
                </a:solidFill>
              </a:rPr>
              <a:t>Final authority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35C646-726D-4C37-B5BB-DA4CBB9A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1529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3A71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B4F833-9623-46D9-87F4-7469555C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62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A712"/>
                </a:solidFill>
              </a:defRPr>
            </a:pPr>
            <a:r>
              <a:rPr sz="975" b="1">
                <a:solidFill>
                  <a:srgbClr val="F3A712"/>
                </a:solidFill>
              </a:rPr>
              <a:t>UNCERTAIN ONLY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6316C3-953D-4741-B50E-808AA7D4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76700"/>
            <a:ext cx="266700" cy="552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3A7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3EB32E-0556-4739-A943-87C9B025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762500"/>
            <a:ext cx="24574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02027"/>
          </a:solidFill>
          <a:ln xmlns:a="http://schemas.openxmlformats.org/drawingml/2006/main" w="19050">
            <a:solidFill>
              <a:srgbClr val="F3A71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A0FAEE-FF1F-454F-870F-EDDDCB62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914900"/>
            <a:ext cx="207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8EFF1"/>
                </a:solidFill>
              </a:defRPr>
            </a:pPr>
            <a:r>
              <a:rPr sz="1500" b="1">
                <a:solidFill>
                  <a:srgbClr val="E8EFF1"/>
                </a:solidFill>
              </a:rPr>
              <a:t>SELECTIVE VLM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8CE2C5-280B-4C4D-A2FE-86DB4EDF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23875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1A6AD"/>
                </a:solidFill>
              </a:defRPr>
            </a:pPr>
            <a:r>
              <a:rPr sz="1050" b="0">
                <a:solidFill>
                  <a:srgbClr val="91A6AD"/>
                </a:solidFill>
              </a:rPr>
              <a:t>Advisory observation · reversible action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B9A21B-05D4-46B3-9D0F-0E5698E3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578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5D49A"/>
                </a:solidFill>
              </a:defRPr>
            </a:pPr>
            <a:r>
              <a:rPr sz="1800" b="1">
                <a:solidFill>
                  <a:srgbClr val="55D49A"/>
                </a:solidFill>
              </a:rPr>
              <a:t>Confident cases: no API call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651BA2-037F-4A59-B84D-9F332190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657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A712"/>
                </a:solidFill>
              </a:defRPr>
            </a:pPr>
            <a:r>
              <a:rPr sz="1800" b="1">
                <a:solidFill>
                  <a:srgbClr val="F3A712"/>
                </a:solidFill>
              </a:rPr>
              <a:t>Uncertain cases: explain + review</a:t>
            </a:r>
          </a:p>
        </p:txBody>
      </p:sp>
    </p:spTree>
    <p:extLst>
      <p:ext uri="{BB962C8B-B14F-4D97-AF65-F5344CB8AC3E}">
        <p14:creationId xmlns:p14="http://schemas.microsoft.com/office/powerpoint/2010/main" val="910607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F054C-CA64-476A-A57B-BA115949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7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75BCE-FEEF-4B6F-9914-771E562C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EFF1"/>
                </a:solidFill>
              </a:defRPr>
            </a:pPr>
            <a:r>
              <a:rPr sz="1350" b="1">
                <a:solidFill>
                  <a:srgbClr val="E8EFF1"/>
                </a:solidFill>
              </a:rPr>
              <a:t>EXtendQuality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E398D-B9CF-4513-9B19-4BC6CEAC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3A712"/>
                </a:solidFill>
              </a:defRPr>
            </a:pPr>
            <a:r>
              <a:rPr sz="750" b="1">
                <a:solidFill>
                  <a:srgbClr val="F3A712"/>
                </a:solidFill>
              </a:rPr>
              <a:t>WORKING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BCB9C-B3E6-4AB9-A695-28E78D37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6AD"/>
                </a:solidFill>
              </a:defRPr>
            </a:pPr>
            <a:r>
              <a:rPr sz="900" b="1">
                <a:solidFill>
                  <a:srgbClr val="91A6A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AE322-E623-4B19-B388-1BAFD80E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8EFF1"/>
                </a:solidFill>
              </a:defRPr>
            </a:pPr>
            <a:r>
              <a:rPr sz="2850" b="1">
                <a:solidFill>
                  <a:srgbClr val="E8EFF1"/>
                </a:solidFill>
              </a:rPr>
              <a:t>One dashboard connects capture, evidence and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BD5BAE-A071-485C-9CEC-311620A4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6AD"/>
                </a:solidFill>
              </a:defRPr>
            </a:pPr>
            <a:r>
              <a:rPr sz="1350" b="0">
                <a:solidFill>
                  <a:srgbClr val="91A6AD"/>
                </a:solidFill>
              </a:rPr>
              <a:t>The inspector sees what happened, why it routed, and what must happen next.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9ece4f68248ab"/>
          <a:srcRect xmlns:a="http://schemas.openxmlformats.org/drawingml/2006/main" l="0" t="73" r="0" b="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114550"/>
            <a:ext cx="7524750" cy="4229100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5AF8A7-8745-408B-8854-0A8C79A4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05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A712"/>
                </a:solidFill>
              </a:defRPr>
            </a:pPr>
            <a:r>
              <a:rPr sz="1050" b="1">
                <a:solidFill>
                  <a:srgbClr val="F3A712"/>
                </a:solidFill>
              </a:rPr>
              <a:t>LIVE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D420E-0260-4B96-A311-E9B24E88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EFF1"/>
                </a:solidFill>
              </a:defRPr>
            </a:pPr>
            <a:r>
              <a:rPr sz="1575" b="1">
                <a:solidFill>
                  <a:srgbClr val="E8EFF1"/>
                </a:solidFill>
              </a:rPr>
              <a:t>Camera or prepared image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F30A9-8295-466E-A714-E8D401C6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95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A712"/>
                </a:solidFill>
              </a:defRPr>
            </a:pPr>
            <a:r>
              <a:rPr sz="1050" b="1">
                <a:solidFill>
                  <a:srgbClr val="F3A712"/>
                </a:solidFill>
              </a:rPr>
              <a:t>SEPARATE SIGNALS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8E29F-1011-4142-9D7B-5944A4D4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19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EFF1"/>
                </a:solidFill>
              </a:defRPr>
            </a:pPr>
            <a:r>
              <a:rPr sz="1575" b="1">
                <a:solidFill>
                  <a:srgbClr val="E8EFF1"/>
                </a:solidFill>
              </a:rPr>
              <a:t>Quality · class confidence</a:t>
            </a:r>
          </a:p>
          <a:p xmlns:a="http://schemas.openxmlformats.org/drawingml/2006/main">
            <a:pPr algn="l">
              <a:defRPr sz="1575" b="1">
                <a:solidFill>
                  <a:srgbClr val="E8EFF1"/>
                </a:solidFill>
              </a:defRPr>
            </a:pPr>
            <a:r>
              <a:rPr sz="1575" b="1">
                <a:solidFill>
                  <a:srgbClr val="E8EFF1"/>
                </a:solidFill>
              </a:rPr>
              <a:t>· disposition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77B1ED-CB83-4E78-AF97-0EEE31E3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672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A712"/>
                </a:solidFill>
              </a:defRPr>
            </a:pPr>
            <a:r>
              <a:rPr sz="1050" b="1">
                <a:solidFill>
                  <a:srgbClr val="F3A712"/>
                </a:solidFill>
              </a:rPr>
              <a:t>EVIDENCE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D8FC3-DB4F-426C-8EDE-CE7C8668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911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8EFF1"/>
                </a:solidFill>
              </a:defRPr>
            </a:pPr>
            <a:r>
              <a:rPr sz="1575" b="1">
                <a:solidFill>
                  <a:srgbClr val="E8EFF1"/>
                </a:solidFill>
              </a:rPr>
              <a:t>SQLite metadata</a:t>
            </a:r>
          </a:p>
          <a:p xmlns:a="http://schemas.openxmlformats.org/drawingml/2006/main">
            <a:pPr algn="l">
              <a:defRPr sz="1575" b="1">
                <a:solidFill>
                  <a:srgbClr val="E8EFF1"/>
                </a:solidFill>
              </a:defRPr>
            </a:pPr>
            <a:r>
              <a:rPr sz="1575" b="1">
                <a:solidFill>
                  <a:srgbClr val="E8EFF1"/>
                </a:solidFill>
              </a:rPr>
              <a:t>+ local image artifacts</a:t>
            </a:r>
          </a:p>
          <a:p xmlns:a="http://schemas.openxmlformats.org/drawingml/2006/main">
            <a:pPr algn="l">
              <a:defRPr sz="1575" b="1">
                <a:solidFill>
                  <a:srgbClr val="E8EFF1"/>
                </a:solidFill>
              </a:defRPr>
            </a:pPr>
            <a:r>
              <a:rPr sz="1575" b="1">
                <a:solidFill>
                  <a:srgbClr val="E8EFF1"/>
                </a:solidFill>
              </a:rPr>
              <a:t>+ human confirmation</a:t>
            </a:r>
          </a:p>
        </p:txBody>
      </p:sp>
    </p:spTree>
    <p:extLst>
      <p:ext uri="{BB962C8B-B14F-4D97-AF65-F5344CB8AC3E}">
        <p14:creationId xmlns:p14="http://schemas.microsoft.com/office/powerpoint/2010/main" val="1190897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B5502-2C95-4B77-B9FD-8767D4BB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7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FEC5A-73BF-4417-847B-C0EC3506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EFF1"/>
                </a:solidFill>
              </a:defRPr>
            </a:pPr>
            <a:r>
              <a:rPr sz="1350" b="1">
                <a:solidFill>
                  <a:srgbClr val="E8EFF1"/>
                </a:solidFill>
              </a:rPr>
              <a:t>EXtendQuality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2A7CF-2B1D-48C7-9E6D-9911FEB4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3A712"/>
                </a:solidFill>
              </a:defRPr>
            </a:pPr>
            <a:r>
              <a:rPr sz="750" b="1">
                <a:solidFill>
                  <a:srgbClr val="F3A712"/>
                </a:solidFill>
              </a:rPr>
              <a:t>EXPLAINABILITY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EACC2-6358-4E4F-95E9-9A11DE64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6AD"/>
                </a:solidFill>
              </a:defRPr>
            </a:pPr>
            <a:r>
              <a:rPr sz="900" b="1">
                <a:solidFill>
                  <a:srgbClr val="91A6A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FBA37-8324-4A38-9EE0-49B115BA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8EFF1"/>
                </a:solidFill>
              </a:defRPr>
            </a:pPr>
            <a:r>
              <a:rPr sz="2850" b="1">
                <a:solidFill>
                  <a:srgbClr val="E8EFF1"/>
                </a:solidFill>
              </a:rPr>
              <a:t>The second screen makes routing visible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9EE3E-0926-4DD9-AB23-B4D9AFA3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6AD"/>
                </a:solidFill>
              </a:defRPr>
            </a:pPr>
            <a:r>
              <a:rPr sz="1350" b="0">
                <a:solidFill>
                  <a:srgbClr val="91A6AD"/>
                </a:solidFill>
              </a:rPr>
              <a:t>A presentation layer linked to stored evidence—not a claim of live 3D reconstruction.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8dd33f1c0a4835"/>
          <a:srcRect xmlns:a="http://schemas.openxmlformats.org/drawingml/2006/main" l="0" t="166" r="0" b="1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076450"/>
            <a:ext cx="7810500" cy="4381500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44D73-A679-49BC-BC76-C4ADB9D3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241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A712"/>
                </a:solidFill>
              </a:defRPr>
            </a:pPr>
            <a:r>
              <a:rPr sz="2250" b="1">
                <a:solidFill>
                  <a:srgbClr val="F3A712"/>
                </a:solidFill>
              </a:rPr>
              <a:t>RUST · 77%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8D421-36AD-41F2-A218-3E193456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765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16D67"/>
                </a:solidFill>
              </a:defRPr>
            </a:pPr>
            <a:r>
              <a:rPr sz="2250" b="1">
                <a:solidFill>
                  <a:srgbClr val="F16D67"/>
                </a:solidFill>
              </a:rPr>
              <a:t>REJECT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1BF07-3232-4F7F-B0DE-16A3901A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861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41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7872B-021F-4723-8D51-E48FCBD7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528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D49A"/>
                </a:solidFill>
              </a:defRPr>
            </a:pPr>
            <a:r>
              <a:rPr sz="1350" b="1">
                <a:solidFill>
                  <a:srgbClr val="55D49A"/>
                </a:solidFill>
              </a:rPr>
              <a:t>VLM NOT INVOKED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D6DBF-9CED-4291-B1A9-EAFE4EB7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71950"/>
            <a:ext cx="266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6AD"/>
                </a:solidFill>
              </a:defRPr>
            </a:pPr>
            <a:r>
              <a:rPr sz="1350" b="0">
                <a:solidFill>
                  <a:srgbClr val="91A6AD"/>
                </a:solidFill>
              </a:rPr>
              <a:t>Confidence cleared the deterministic rejection threshold, so the case stayed local.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511ED-F75D-4798-8DFA-51795330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5626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EFF1"/>
                </a:solidFill>
              </a:defRPr>
            </a:pPr>
            <a:r>
              <a:rPr sz="1350" b="1">
                <a:solidFill>
                  <a:srgbClr val="E8EFF1"/>
                </a:solidFill>
              </a:rPr>
              <a:t>Human confirmation remains pending.</a:t>
            </a:r>
          </a:p>
        </p:txBody>
      </p:sp>
    </p:spTree>
    <p:extLst>
      <p:ext uri="{BB962C8B-B14F-4D97-AF65-F5344CB8AC3E}">
        <p14:creationId xmlns:p14="http://schemas.microsoft.com/office/powerpoint/2010/main" val="11674973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B4E5DA-05A8-461E-96D0-4E605CA0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7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5EAFB-7B78-44F7-AB04-09D455BE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EFF1"/>
                </a:solidFill>
              </a:defRPr>
            </a:pPr>
            <a:r>
              <a:rPr sz="1350" b="1">
                <a:solidFill>
                  <a:srgbClr val="E8EFF1"/>
                </a:solidFill>
              </a:rPr>
              <a:t>EXtendQuality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97C4D-3F7A-4D8C-95DE-E3B30A28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3A712"/>
                </a:solidFill>
              </a:defRPr>
            </a:pPr>
            <a:r>
              <a:rPr sz="750" b="1">
                <a:solidFill>
                  <a:srgbClr val="F3A712"/>
                </a:solidFill>
              </a:rPr>
              <a:t>TECHNICAL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5CF26-F7BA-43CC-A613-EAF3DBA9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6AD"/>
                </a:solidFill>
              </a:defRPr>
            </a:pPr>
            <a:r>
              <a:rPr sz="900" b="1">
                <a:solidFill>
                  <a:srgbClr val="91A6A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B79CD-AD71-423B-A95D-C412EBF5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8EFF1"/>
                </a:solidFill>
              </a:defRPr>
            </a:pPr>
            <a:r>
              <a:rPr sz="2850" b="1">
                <a:solidFill>
                  <a:srgbClr val="E8EFF1"/>
                </a:solidFill>
              </a:rPr>
              <a:t>The POC works on photographed parts—within a narrow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26309-EFC3-475D-83FD-D94975CA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6AD"/>
                </a:solidFill>
              </a:defRPr>
            </a:pPr>
            <a:r>
              <a:rPr sz="1350" b="0">
                <a:solidFill>
                  <a:srgbClr val="91A6AD"/>
                </a:solidFill>
              </a:rPr>
              <a:t>We report the number and its limitation together.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3D171-DDD9-43C0-8609-0ACCB52D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E8EFF1"/>
                </a:solidFill>
              </a:defRPr>
            </a:pPr>
            <a:r>
              <a:rPr sz="4800" b="1">
                <a:solidFill>
                  <a:srgbClr val="E8EFF1"/>
                </a:solidFill>
              </a:rPr>
              <a:t>31 / 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74070-88C4-4882-8686-66E0C805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1A6AD"/>
                </a:solidFill>
              </a:defRPr>
            </a:pPr>
            <a:r>
              <a:rPr sz="1650" b="0">
                <a:solidFill>
                  <a:srgbClr val="91A6AD"/>
                </a:solidFill>
              </a:rPr>
              <a:t>harder excluded views correct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28564-E452-4765-B7D9-330CE3F0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EFF1"/>
                </a:solidFill>
              </a:defRPr>
            </a:pPr>
            <a:r>
              <a:rPr sz="1200" b="1">
                <a:solidFill>
                  <a:srgbClr val="E8EFF1"/>
                </a:solidFill>
              </a:rPr>
              <a:t>NORMAL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47B21-862D-4AC4-B855-793F20CD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3385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C43C2-AED5-4136-9B7C-26EFE650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3385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A6EB23-D5E4-4C1F-9E0B-7ABD4974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EFF1"/>
                </a:solidFill>
              </a:defRPr>
            </a:pPr>
            <a:r>
              <a:rPr sz="1200" b="1">
                <a:solidFill>
                  <a:srgbClr val="E8EFF1"/>
                </a:solidFill>
              </a:rPr>
              <a:t>7/7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5A1070-B9BC-4430-96FE-AA5DB2A0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EFF1"/>
                </a:solidFill>
              </a:defRPr>
            </a:pPr>
            <a:r>
              <a:rPr sz="1200" b="1">
                <a:solidFill>
                  <a:srgbClr val="E8EFF1"/>
                </a:solidFill>
              </a:rPr>
              <a:t>DISPLACED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A5A253-C713-493A-BC6F-25B368C5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74345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1712FE-A7D0-469F-8246-14946314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74345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090CF4-56A5-417D-B2F8-0888DD86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053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EFF1"/>
                </a:solidFill>
              </a:defRPr>
            </a:pPr>
            <a:r>
              <a:rPr sz="1200" b="1">
                <a:solidFill>
                  <a:srgbClr val="E8EFF1"/>
                </a:solidFill>
              </a:rPr>
              <a:t>7/7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06CA2-C03F-4EC8-AB65-7C9AA12B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14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EFF1"/>
                </a:solidFill>
              </a:defRPr>
            </a:pPr>
            <a:r>
              <a:rPr sz="1200" b="1">
                <a:solidFill>
                  <a:srgbClr val="E8EFF1"/>
                </a:solidFill>
              </a:rPr>
              <a:t>RUST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10B9BE-C4A8-4D3D-89E3-CF0F2F63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5305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796497-9F1F-4DC4-9928-A3271056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53050"/>
            <a:ext cx="2301039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7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DA11B1-144E-4343-ABDC-C1A96C62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14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8EFF1"/>
                </a:solidFill>
              </a:defRPr>
            </a:pPr>
            <a:r>
              <a:rPr sz="1200" b="1">
                <a:solidFill>
                  <a:srgbClr val="E8EFF1"/>
                </a:solidFill>
              </a:rPr>
              <a:t>17/19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0629D4-FF5E-4DA9-9059-6A7060B6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52197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2027"/>
          </a:solidFill>
          <a:ln xmlns:a="http://schemas.openxmlformats.org/drawingml/2006/main" w="9525">
            <a:solidFill>
              <a:srgbClr val="2B414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A9B337-ADB0-4971-B379-1896F4F4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955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D49A"/>
                </a:solidFill>
              </a:defRPr>
            </a:pPr>
            <a:r>
              <a:rPr sz="1050" b="1">
                <a:solidFill>
                  <a:srgbClr val="55D49A"/>
                </a:solidFill>
              </a:rPr>
              <a:t>WHAT THIS PROVES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8F89CB-7A3A-4C57-A2DA-911699FD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95600"/>
            <a:ext cx="438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8EFF1"/>
                </a:solidFill>
              </a:defRPr>
            </a:pPr>
            <a:r>
              <a:rPr sz="1950" b="1">
                <a:solidFill>
                  <a:srgbClr val="E8EFF1"/>
                </a:solidFill>
              </a:rPr>
              <a:t>Prepared workflow feasibility</a:t>
            </a:r>
          </a:p>
          <a:p xmlns:a="http://schemas.openxmlformats.org/drawingml/2006/main">
            <a:pPr algn="l">
              <a:defRPr sz="1950" b="1">
                <a:solidFill>
                  <a:srgbClr val="E8EFF1"/>
                </a:solidFill>
              </a:defRPr>
            </a:pPr>
            <a:r>
              <a:rPr sz="1950" b="1">
                <a:solidFill>
                  <a:srgbClr val="E8EFF1"/>
                </a:solidFill>
              </a:rPr>
              <a:t>on the photographed bearings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7AAE83-25CE-4046-A142-38D42B9B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00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A712"/>
                </a:solidFill>
              </a:defRPr>
            </a:pPr>
            <a:r>
              <a:rPr sz="1050" b="1">
                <a:solidFill>
                  <a:srgbClr val="F3A712"/>
                </a:solidFill>
              </a:rPr>
              <a:t>WHAT IT DOES NOT PROVE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E2B23C-769F-4F80-9374-BBBA9FF3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00550"/>
            <a:ext cx="4381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1A6AD"/>
                </a:solidFill>
              </a:defRPr>
            </a:pPr>
            <a:r>
              <a:rPr sz="1650" b="0">
                <a:solidFill>
                  <a:srgbClr val="91A6AD"/>
                </a:solidFill>
              </a:rPr>
              <a:t>Transfer to unseen bearings</a:t>
            </a:r>
          </a:p>
          <a:p xmlns:a="http://schemas.openxmlformats.org/drawingml/2006/main">
            <a:pPr algn="l">
              <a:defRPr sz="1650" b="0">
                <a:solidFill>
                  <a:srgbClr val="91A6AD"/>
                </a:solidFill>
              </a:defRPr>
            </a:pPr>
            <a:r>
              <a:rPr sz="1650" b="0">
                <a:solidFill>
                  <a:srgbClr val="91A6AD"/>
                </a:solidFill>
              </a:rPr>
              <a:t>Industrial accuracy</a:t>
            </a:r>
          </a:p>
          <a:p xmlns:a="http://schemas.openxmlformats.org/drawingml/2006/main">
            <a:pPr algn="l">
              <a:defRPr sz="1650" b="0">
                <a:solidFill>
                  <a:srgbClr val="91A6AD"/>
                </a:solidFill>
              </a:defRPr>
            </a:pPr>
            <a:r>
              <a:rPr sz="1650" b="0">
                <a:solidFill>
                  <a:srgbClr val="91A6AD"/>
                </a:solidFill>
              </a:rPr>
              <a:t>Millimetre measurement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5D746E-8AE1-4C06-B880-91D4683B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6740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16D67"/>
                </a:solidFill>
              </a:defRPr>
            </a:pPr>
            <a:r>
              <a:rPr sz="1350" b="1">
                <a:solidFill>
                  <a:srgbClr val="F16D67"/>
                </a:solidFill>
              </a:rPr>
              <a:t>Two rust views were predicted normal.</a:t>
            </a:r>
          </a:p>
        </p:txBody>
      </p:sp>
    </p:spTree>
    <p:extLst>
      <p:ext uri="{BB962C8B-B14F-4D97-AF65-F5344CB8AC3E}">
        <p14:creationId xmlns:p14="http://schemas.microsoft.com/office/powerpoint/2010/main" val="12943393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4C45CA-6E92-43B1-BF57-58AA625C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7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47D1E-ADC9-4BFA-B44D-9E28AE89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EFF1"/>
                </a:solidFill>
              </a:defRPr>
            </a:pPr>
            <a:r>
              <a:rPr sz="1350" b="1">
                <a:solidFill>
                  <a:srgbClr val="E8EFF1"/>
                </a:solidFill>
              </a:rPr>
              <a:t>EXtendQuality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E64F1-F351-4A77-91E2-24C7C1A1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3A712"/>
                </a:solidFill>
              </a:defRPr>
            </a:pPr>
            <a:r>
              <a:rPr sz="750" b="1">
                <a:solidFill>
                  <a:srgbClr val="F3A712"/>
                </a:solidFill>
              </a:rPr>
              <a:t>MSME ECONOMICS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6EA3C-DFEC-4B86-8D98-C040F51A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6AD"/>
                </a:solidFill>
              </a:defRPr>
            </a:pPr>
            <a:r>
              <a:rPr sz="900" b="1">
                <a:solidFill>
                  <a:srgbClr val="91A6A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B966E-292B-467E-B034-7DE464C7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8EFF1"/>
                </a:solidFill>
              </a:defRPr>
            </a:pPr>
            <a:r>
              <a:rPr sz="2850" b="1">
                <a:solidFill>
                  <a:srgbClr val="E8EFF1"/>
                </a:solidFill>
              </a:rPr>
              <a:t>Spend reasoning cost only where uncertainty exists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50E39-D3D4-4179-B43A-3EEC61B2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6AD"/>
                </a:solidFill>
              </a:defRPr>
            </a:pPr>
            <a:r>
              <a:rPr sz="1350" b="0">
                <a:solidFill>
                  <a:srgbClr val="91A6AD"/>
                </a:solidFill>
              </a:rPr>
              <a:t>The architecture controls cost before we claim a rupee figure.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0B5003-594B-478B-9AC6-2166551E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D49A"/>
                </a:solidFill>
              </a:defRPr>
            </a:pPr>
            <a:r>
              <a:rPr sz="1050" b="1">
                <a:solidFill>
                  <a:srgbClr val="55D49A"/>
                </a:solidFill>
              </a:rPr>
              <a:t>ROUTINE LANE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3B9D6-E1E6-4741-BF08-8F78A3BD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8EFF1"/>
                </a:solidFill>
              </a:defRPr>
            </a:pPr>
            <a:r>
              <a:rPr sz="2250" b="1">
                <a:solidFill>
                  <a:srgbClr val="E8EFF1"/>
                </a:solidFill>
              </a:rPr>
              <a:t>OpenCV + local YOLO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E052C-EA89-4F31-B2E3-49D0D824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428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1A6AD"/>
                </a:solidFill>
              </a:defRPr>
            </a:pPr>
            <a:r>
              <a:rPr sz="1500" b="0">
                <a:solidFill>
                  <a:srgbClr val="91A6AD"/>
                </a:solidFill>
              </a:rPr>
              <a:t>No per-image VLM call</a:t>
            </a:r>
          </a:p>
          <a:p xmlns:a="http://schemas.openxmlformats.org/drawingml/2006/main">
            <a:pPr algn="l">
              <a:defRPr sz="1500" b="0">
                <a:solidFill>
                  <a:srgbClr val="91A6AD"/>
                </a:solidFill>
              </a:defRPr>
            </a:pPr>
            <a:r>
              <a:rPr sz="1500" b="0">
                <a:solidFill>
                  <a:srgbClr val="91A6AD"/>
                </a:solidFill>
              </a:rPr>
              <a:t>Local metadata and artifacts</a:t>
            </a:r>
          </a:p>
          <a:p xmlns:a="http://schemas.openxmlformats.org/drawingml/2006/main">
            <a:pPr algn="l">
              <a:defRPr sz="1500" b="0">
                <a:solidFill>
                  <a:srgbClr val="91A6AD"/>
                </a:solidFill>
              </a:defRPr>
            </a:pPr>
            <a:r>
              <a:rPr sz="1500" b="0">
                <a:solidFill>
                  <a:srgbClr val="91A6AD"/>
                </a:solidFill>
              </a:rPr>
              <a:t>Warm inference measured in tens of 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14741-0908-4865-92D7-757D473D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860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A712"/>
                </a:solidFill>
              </a:defRPr>
            </a:pPr>
            <a:r>
              <a:rPr sz="1050" b="1">
                <a:solidFill>
                  <a:srgbClr val="F3A712"/>
                </a:solidFill>
              </a:rPr>
              <a:t>UNCERTAIN LANE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12D2E-A9E5-40C8-9DBF-52843CF7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8EFF1"/>
                </a:solidFill>
              </a:defRPr>
            </a:pPr>
            <a:r>
              <a:rPr sz="2250" b="1">
                <a:solidFill>
                  <a:srgbClr val="E8EFF1"/>
                </a:solidFill>
              </a:rPr>
              <a:t>VLM + human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430D7-677B-4F5B-84E0-26B68C6C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33750"/>
            <a:ext cx="428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1A6AD"/>
                </a:solidFill>
              </a:defRPr>
            </a:pPr>
            <a:r>
              <a:rPr sz="1500" b="0">
                <a:solidFill>
                  <a:srgbClr val="91A6AD"/>
                </a:solidFill>
              </a:rPr>
              <a:t>Only below threshold</a:t>
            </a:r>
          </a:p>
          <a:p xmlns:a="http://schemas.openxmlformats.org/drawingml/2006/main">
            <a:pPr algn="l">
              <a:defRPr sz="1500" b="0">
                <a:solidFill>
                  <a:srgbClr val="91A6AD"/>
                </a:solidFill>
              </a:defRPr>
            </a:pPr>
            <a:r>
              <a:rPr sz="1500" b="0">
                <a:solidFill>
                  <a:srgbClr val="91A6AD"/>
                </a:solidFill>
              </a:rPr>
              <a:t>Safe offline fallback</a:t>
            </a:r>
          </a:p>
          <a:p xmlns:a="http://schemas.openxmlformats.org/drawingml/2006/main">
            <a:pPr algn="l">
              <a:defRPr sz="1500" b="0">
                <a:solidFill>
                  <a:srgbClr val="91A6AD"/>
                </a:solidFill>
              </a:defRPr>
            </a:pPr>
            <a:r>
              <a:rPr sz="1500" b="0">
                <a:solidFill>
                  <a:srgbClr val="91A6AD"/>
                </a:solidFill>
              </a:rPr>
              <a:t>No autonomous safety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452A84-5C84-477F-A22E-1FD8FD62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1061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414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60FF97-D4C9-46AA-A240-C3EB95F9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EFF1"/>
                </a:solidFill>
              </a:defRPr>
            </a:pPr>
            <a:r>
              <a:rPr sz="1350" b="1">
                <a:solidFill>
                  <a:srgbClr val="E8EFF1"/>
                </a:solidFill>
              </a:rPr>
              <a:t>Pilot economics to measure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F7950B-7D76-432A-AE2D-D09A0B69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197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1A6AD"/>
                </a:solidFill>
              </a:defRPr>
            </a:pPr>
            <a:r>
              <a:rPr sz="1050" b="1">
                <a:solidFill>
                  <a:srgbClr val="91A6AD"/>
                </a:solidFill>
              </a:rPr>
              <a:t>INSPECTION TIME SAVED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98C7D-120D-4C6B-A406-31A748A4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197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1A6AD"/>
                </a:solidFill>
              </a:defRPr>
            </a:pPr>
            <a:r>
              <a:rPr sz="1050" b="1">
                <a:solidFill>
                  <a:srgbClr val="91A6AD"/>
                </a:solidFill>
              </a:rPr>
              <a:t>UNCERTAIN-CASE 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F95BA9-F32D-4E47-807F-C7A7262B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197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1A6AD"/>
                </a:solidFill>
              </a:defRPr>
            </a:pPr>
            <a:r>
              <a:rPr sz="1050" b="1">
                <a:solidFill>
                  <a:srgbClr val="91A6AD"/>
                </a:solidFill>
              </a:rPr>
              <a:t>FALSE REJECT COST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C9659D-C115-41C0-BB37-1AB6B022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197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3A712"/>
                </a:solidFill>
              </a:defRPr>
            </a:pPr>
            <a:r>
              <a:rPr sz="1050" b="1">
                <a:solidFill>
                  <a:srgbClr val="F3A712"/>
                </a:solidFill>
              </a:rPr>
              <a:t>CALLS / 1,000 PARTS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2044E5-CF78-46F8-ABB8-A7E87EE5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15050"/>
            <a:ext cx="1061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8EFF1"/>
                </a:solidFill>
              </a:defRPr>
            </a:pPr>
            <a:r>
              <a:rPr sz="1350" b="1">
                <a:solidFill>
                  <a:srgbClr val="E8EFF1"/>
                </a:solidFill>
              </a:rPr>
              <a:t>No fabricated pricing. Validate value at one factory cell, then price against measured savings.</a:t>
            </a:r>
          </a:p>
        </p:txBody>
      </p:sp>
    </p:spTree>
    <p:extLst>
      <p:ext uri="{BB962C8B-B14F-4D97-AF65-F5344CB8AC3E}">
        <p14:creationId xmlns:p14="http://schemas.microsoft.com/office/powerpoint/2010/main" val="1274803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F58298-2B8E-4BE8-A1A0-3F721029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7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C0606-4A5A-454A-BB23-403D5436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EFF1"/>
                </a:solidFill>
              </a:defRPr>
            </a:pPr>
            <a:r>
              <a:rPr sz="1350" b="1">
                <a:solidFill>
                  <a:srgbClr val="E8EFF1"/>
                </a:solidFill>
              </a:rPr>
              <a:t>EXtendQuality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62833-7C70-4271-9C54-5B45D96E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3A712"/>
                </a:solidFill>
              </a:defRPr>
            </a:pPr>
            <a:r>
              <a:rPr sz="750" b="1">
                <a:solidFill>
                  <a:srgbClr val="F3A712"/>
                </a:solidFill>
              </a:rPr>
              <a:t>PATH TO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A02DA-A0F0-48F5-BE40-DEBDF715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6AD"/>
                </a:solidFill>
              </a:defRPr>
            </a:pPr>
            <a:r>
              <a:rPr sz="900" b="1">
                <a:solidFill>
                  <a:srgbClr val="91A6AD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44692F-7236-4351-B35E-35709BE4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8EFF1"/>
                </a:solidFill>
              </a:defRPr>
            </a:pPr>
            <a:r>
              <a:rPr sz="2850" b="1">
                <a:solidFill>
                  <a:srgbClr val="E8EFF1"/>
                </a:solidFill>
              </a:rPr>
              <a:t>A controlled pilot turns a good demo into defensible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E672B-EBF2-4270-83EB-CCB7597C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1A6AD"/>
                </a:solidFill>
              </a:defRPr>
            </a:pPr>
            <a:r>
              <a:rPr sz="1350" b="0">
                <a:solidFill>
                  <a:srgbClr val="91A6AD"/>
                </a:solidFill>
              </a:rPr>
              <a:t>Hold out complete bearings and capture sessions—not random repeated frames.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5323B2-40ED-4701-B68F-096753ED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14325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4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9AB5B-5D22-460E-A917-B4202117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027"/>
          </a:solidFill>
          <a:ln xmlns:a="http://schemas.openxmlformats.org/drawingml/2006/main" w="19050">
            <a:solidFill>
              <a:srgbClr val="2B414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DE420-516F-4173-B4AE-FB5952A1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987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D49A"/>
                </a:solidFill>
              </a:defRPr>
            </a:pPr>
            <a:r>
              <a:rPr sz="1350" b="1">
                <a:solidFill>
                  <a:srgbClr val="55D49A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1E6AED-A45C-44D5-9BD7-5B7902FD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EFF1"/>
                </a:solidFill>
              </a:defRPr>
            </a:pPr>
            <a:r>
              <a:rPr sz="1275" b="1">
                <a:solidFill>
                  <a:srgbClr val="E8EFF1"/>
                </a:solidFill>
              </a:rPr>
              <a:t>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42A05E-408E-4836-8EAC-B05A861B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6AD"/>
                </a:solidFill>
              </a:defRPr>
            </a:pPr>
            <a:r>
              <a:rPr sz="1275" b="0">
                <a:solidFill>
                  <a:srgbClr val="91A6AD"/>
                </a:solidFill>
              </a:rPr>
              <a:t>Measure current inspection time, misses and rejects.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32FEE6-8BB4-4E7B-95D1-A04E005C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4325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4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06388F-FD08-4FB1-954A-4DFEA6EB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670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027"/>
          </a:solidFill>
          <a:ln xmlns:a="http://schemas.openxmlformats.org/drawingml/2006/main" w="19050">
            <a:solidFill>
              <a:srgbClr val="2B414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C87B2C-FC46-4B06-AF9F-39578489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0987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D49A"/>
                </a:solidFill>
              </a:defRPr>
            </a:pPr>
            <a:r>
              <a:rPr sz="1350" b="1">
                <a:solidFill>
                  <a:srgbClr val="55D49A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10B0D-75C0-4558-A623-8ED34B47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19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EFF1"/>
                </a:solidFill>
              </a:defRPr>
            </a:pPr>
            <a:r>
              <a:rPr sz="1275" b="1">
                <a:solidFill>
                  <a:srgbClr val="E8EFF1"/>
                </a:solidFill>
              </a:rPr>
              <a:t>CAPTURE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4AF4B0-A6DD-406D-85AE-47507A3D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19550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6AD"/>
                </a:solidFill>
              </a:defRPr>
            </a:pPr>
            <a:r>
              <a:rPr sz="1275" b="0">
                <a:solidFill>
                  <a:srgbClr val="91A6AD"/>
                </a:solidFill>
              </a:rPr>
              <a:t>Fixed camera, fixture, lighting and bearing variants.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374B66-745C-45B2-9192-B6F28ECE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4325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4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95A641-8441-43BC-A8D3-422BE04D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027"/>
          </a:solidFill>
          <a:ln xmlns:a="http://schemas.openxmlformats.org/drawingml/2006/main" w="19050">
            <a:solidFill>
              <a:srgbClr val="2B414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630D9-2006-4512-939E-5CA6D8DE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987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D49A"/>
                </a:solidFill>
              </a:defRPr>
            </a:pPr>
            <a:r>
              <a:rPr sz="1350" b="1">
                <a:solidFill>
                  <a:srgbClr val="55D49A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85675F-CA24-4653-B255-3400C088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19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EFF1"/>
                </a:solidFill>
              </a:defRPr>
            </a:pPr>
            <a:r>
              <a:rPr sz="1275" b="1">
                <a:solidFill>
                  <a:srgbClr val="E8EFF1"/>
                </a:solidFill>
              </a:rPr>
              <a:t>CURATE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3F23DD-F93D-4C02-8588-33C7AF1B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19550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6AD"/>
                </a:solidFill>
              </a:defRPr>
            </a:pPr>
            <a:r>
              <a:rPr sz="1275" b="0">
                <a:solidFill>
                  <a:srgbClr val="91A6AD"/>
                </a:solidFill>
              </a:rPr>
              <a:t>Independent parts, verified defects and reviewer agreement.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99514F-833C-49E5-A7AF-F8654603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43250"/>
            <a:ext cx="381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41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6D7C80-7C2F-417F-AE47-14773401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670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027"/>
          </a:solidFill>
          <a:ln xmlns:a="http://schemas.openxmlformats.org/drawingml/2006/main" w="19050">
            <a:solidFill>
              <a:srgbClr val="2B414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EBC733-F163-452C-9523-8FD27F81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987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D49A"/>
                </a:solidFill>
              </a:defRPr>
            </a:pPr>
            <a:r>
              <a:rPr sz="1350" b="1">
                <a:solidFill>
                  <a:srgbClr val="55D49A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9345FA-2DF6-415C-8CAF-7993C6B0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19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EFF1"/>
                </a:solidFill>
              </a:defRPr>
            </a:pPr>
            <a:r>
              <a:rPr sz="1275" b="1">
                <a:solidFill>
                  <a:srgbClr val="E8EFF1"/>
                </a:solidFill>
              </a:rPr>
              <a:t>VALIDATE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A99261-BACC-48BD-89FD-40AA3E37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19550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6AD"/>
                </a:solidFill>
              </a:defRPr>
            </a:pPr>
            <a:r>
              <a:rPr sz="1275" b="0">
                <a:solidFill>
                  <a:srgbClr val="91A6AD"/>
                </a:solidFill>
              </a:rPr>
              <a:t>Per-class recall, false accepts, latency and repeatability.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26B827-06D4-433C-843A-1DADFBF2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670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712"/>
          </a:solidFill>
          <a:ln xmlns:a="http://schemas.openxmlformats.org/drawingml/2006/main" w="19050">
            <a:solidFill>
              <a:srgbClr val="2B414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A9A437-B4DA-4572-8959-1E9642F0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0987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6"/>
                </a:solidFill>
              </a:defRPr>
            </a:pPr>
            <a:r>
              <a:rPr sz="1350" b="1">
                <a:solidFill>
                  <a:srgbClr val="071116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B90367-8907-4AFA-9CF8-BA4C4BAF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19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EFF1"/>
                </a:solidFill>
              </a:defRPr>
            </a:pPr>
            <a:r>
              <a:rPr sz="1275" b="1">
                <a:solidFill>
                  <a:srgbClr val="E8EFF1"/>
                </a:solidFill>
              </a:rPr>
              <a:t>DEPLOY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E9D120-26E1-44E2-A5AB-B3937B2D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19550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1A6AD"/>
                </a:solidFill>
              </a:defRPr>
            </a:pPr>
            <a:r>
              <a:rPr sz="1275" b="0">
                <a:solidFill>
                  <a:srgbClr val="91A6AD"/>
                </a:solidFill>
              </a:rPr>
              <a:t>One assisted cell with audit trail and rollback.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FBA065-C8B7-49E3-8E9B-5FA4F2D5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08966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027"/>
          </a:solidFill>
          <a:ln xmlns:a="http://schemas.openxmlformats.org/drawingml/2006/main" w="9525">
            <a:solidFill>
              <a:srgbClr val="F3A71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097FE1-286C-4572-905E-26EE0764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A712"/>
                </a:solidFill>
              </a:defRPr>
            </a:pPr>
            <a:r>
              <a:rPr sz="1050" b="1">
                <a:solidFill>
                  <a:srgbClr val="F3A712"/>
                </a:solidFill>
              </a:rPr>
              <a:t>GO / NO-GO GATE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C1FD32-CFFA-4B88-837B-C7252611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3405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EFF1"/>
                </a:solidFill>
              </a:defRPr>
            </a:pPr>
            <a:r>
              <a:rPr sz="1500" b="1">
                <a:solidFill>
                  <a:srgbClr val="E8EFF1"/>
                </a:solidFill>
              </a:rPr>
              <a:t>Advance only when unseen-bearing performance and false-accept risk meet the factory’s agreed threshold.</a:t>
            </a:r>
          </a:p>
        </p:txBody>
      </p:sp>
    </p:spTree>
    <p:extLst>
      <p:ext uri="{BB962C8B-B14F-4D97-AF65-F5344CB8AC3E}">
        <p14:creationId xmlns:p14="http://schemas.microsoft.com/office/powerpoint/2010/main" val="597746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56CABE-A7F7-41B0-8B20-A91372A9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A7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1825B-4E03-446F-8E61-B5DAF9F3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EFF1"/>
                </a:solidFill>
              </a:defRPr>
            </a:pPr>
            <a:r>
              <a:rPr sz="1350" b="1">
                <a:solidFill>
                  <a:srgbClr val="E8EFF1"/>
                </a:solidFill>
              </a:rPr>
              <a:t>EXtendQuality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250957-28FB-4552-BCFF-28ED7D08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3A712"/>
                </a:solidFill>
              </a:defRPr>
            </a:pPr>
            <a:r>
              <a:rPr sz="750" b="1">
                <a:solidFill>
                  <a:srgbClr val="F3A712"/>
                </a:solidFill>
              </a:rPr>
              <a:t>THE VENTURE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65DB4-517E-4428-BD71-CA44764A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3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1A6AD"/>
                </a:solidFill>
              </a:defRPr>
            </a:pPr>
            <a:r>
              <a:rPr sz="900" b="1">
                <a:solidFill>
                  <a:srgbClr val="91A6AD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ABC77-E142-46D9-A87D-901CAF4A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685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8EFF1"/>
                </a:solidFill>
              </a:defRPr>
            </a:pPr>
            <a:r>
              <a:rPr sz="3150" b="1">
                <a:solidFill>
                  <a:srgbClr val="E8EFF1"/>
                </a:solidFill>
              </a:rPr>
              <a:t>Help us validate one</a:t>
            </a:r>
          </a:p>
          <a:p xmlns:a="http://schemas.openxmlformats.org/drawingml/2006/main">
            <a:pPr algn="l">
              <a:defRPr sz="3150" b="1">
                <a:solidFill>
                  <a:srgbClr val="E8EFF1"/>
                </a:solidFill>
              </a:defRPr>
            </a:pPr>
            <a:r>
              <a:rPr sz="3150" b="1">
                <a:solidFill>
                  <a:srgbClr val="E8EFF1"/>
                </a:solidFill>
              </a:rPr>
              <a:t>inspection cell—not sell</a:t>
            </a:r>
          </a:p>
          <a:p xmlns:a="http://schemas.openxmlformats.org/drawingml/2006/main">
            <a:pPr algn="l">
              <a:defRPr sz="3150" b="1">
                <a:solidFill>
                  <a:srgbClr val="E8EFF1"/>
                </a:solidFill>
              </a:defRPr>
            </a:pPr>
            <a:r>
              <a:rPr sz="3150" b="1">
                <a:solidFill>
                  <a:srgbClr val="E8EFF1"/>
                </a:solidFill>
              </a:rPr>
              <a:t>an unproven factory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F5C04-DF94-4F63-A00B-EE9C7F5A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3A71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BF7F4-F4F2-4B3A-8E98-F592551C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A712"/>
                </a:solidFill>
              </a:defRPr>
            </a:pPr>
            <a:r>
              <a:rPr sz="1050" b="1">
                <a:solidFill>
                  <a:srgbClr val="F3A712"/>
                </a:solidFill>
              </a:rPr>
              <a:t>WE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D7E09-F107-4C6A-B5FD-B28A8ABD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1A6AD"/>
                </a:solidFill>
              </a:defRPr>
            </a:pPr>
            <a:r>
              <a:rPr sz="1650" b="0">
                <a:solidFill>
                  <a:srgbClr val="91A6AD"/>
                </a:solidFill>
              </a:rPr>
              <a:t>Factory access · independent bearing samples</a:t>
            </a:r>
          </a:p>
          <a:p xmlns:a="http://schemas.openxmlformats.org/drawingml/2006/main">
            <a:pPr algn="l">
              <a:defRPr sz="1650" b="0">
                <a:solidFill>
                  <a:srgbClr val="91A6AD"/>
                </a:solidFill>
              </a:defRPr>
            </a:pPr>
            <a:r>
              <a:rPr sz="1650" b="0">
                <a:solidFill>
                  <a:srgbClr val="91A6AD"/>
                </a:solidFill>
              </a:rPr>
              <a:t>Defect-definition support · pilot mentorship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4E1E7-4380-43A2-9C69-922B79C0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4780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2027"/>
          </a:solidFill>
          <a:ln xmlns:a="http://schemas.openxmlformats.org/drawingml/2006/main" w="9525">
            <a:solidFill>
              <a:srgbClr val="2B41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75118-1981-4B73-9370-58E8F8F7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907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D49A"/>
                </a:solidFill>
              </a:defRPr>
            </a:pPr>
            <a:r>
              <a:rPr sz="1050" b="1">
                <a:solidFill>
                  <a:srgbClr val="55D49A"/>
                </a:solidFill>
              </a:rPr>
              <a:t>THE RETURN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23457-DEB6-40E6-B59E-B6CA11CD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8EFF1"/>
                </a:solidFill>
              </a:defRPr>
            </a:pPr>
            <a:r>
              <a:rPr sz="2250" b="1">
                <a:solidFill>
                  <a:srgbClr val="E8EFF1"/>
                </a:solidFill>
              </a:rPr>
              <a:t>A measured 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3A417-733A-4D0E-9BF8-770C3FE1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95600"/>
            <a:ext cx="257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1A6AD"/>
                </a:solidFill>
              </a:defRPr>
            </a:pPr>
            <a:r>
              <a:rPr sz="1575" b="0">
                <a:solidFill>
                  <a:srgbClr val="91A6AD"/>
                </a:solidFill>
              </a:rPr>
              <a:t>with transparent evidence,</a:t>
            </a:r>
          </a:p>
          <a:p xmlns:a="http://schemas.openxmlformats.org/drawingml/2006/main">
            <a:pPr algn="l">
              <a:defRPr sz="1575" b="0">
                <a:solidFill>
                  <a:srgbClr val="91A6AD"/>
                </a:solidFill>
              </a:defRPr>
            </a:pPr>
            <a:r>
              <a:rPr sz="1575" b="0">
                <a:solidFill>
                  <a:srgbClr val="91A6AD"/>
                </a:solidFill>
              </a:rPr>
              <a:t>controlled cost, human governance</a:t>
            </a:r>
          </a:p>
          <a:p xmlns:a="http://schemas.openxmlformats.org/drawingml/2006/main">
            <a:pPr algn="l">
              <a:defRPr sz="1575" b="0">
                <a:solidFill>
                  <a:srgbClr val="91A6AD"/>
                </a:solidFill>
              </a:defRPr>
            </a:pPr>
            <a:r>
              <a:rPr sz="1575" b="0">
                <a:solidFill>
                  <a:srgbClr val="91A6AD"/>
                </a:solidFill>
              </a:rPr>
              <a:t>and a clear deployment gate.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0CCE3-6C8E-4975-B4A9-500294C7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007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A712"/>
                </a:solidFill>
              </a:defRPr>
            </a:pPr>
            <a:r>
              <a:rPr sz="2250" b="1">
                <a:solidFill>
                  <a:srgbClr val="F3A712"/>
                </a:solidFill>
              </a:rPr>
              <a:t>EXtendQuality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5990E-ADA7-49EC-9196-7D5EA08D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0198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E8EFF1"/>
                </a:solidFill>
              </a:defRPr>
            </a:pPr>
            <a:r>
              <a:rPr sz="1425" b="1">
                <a:solidFill>
                  <a:srgbClr val="E8EFF1"/>
                </a:solidFill>
              </a:rPr>
              <a:t>Local when confident. Assisted when uncertain. Human when it matters.</a:t>
            </a:r>
          </a:p>
        </p:txBody>
      </p:sp>
    </p:spTree>
    <p:extLst>
      <p:ext uri="{BB962C8B-B14F-4D97-AF65-F5344CB8AC3E}">
        <p14:creationId xmlns:p14="http://schemas.microsoft.com/office/powerpoint/2010/main" val="5732375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2026-08-22T04:08:49.1780000Z</dcterms:created>
  <dcterms:modified xsi:type="dcterms:W3CDTF">2026-08-22T04:08:49.1790000Z</dcterms:modified>
</coreProperties>
</file>